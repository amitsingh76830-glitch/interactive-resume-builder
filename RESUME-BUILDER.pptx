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4FD"/>
    <a:srgbClr val="1C3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C3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20700" y="2908331"/>
            <a:ext cx="2889250" cy="3622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915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819701" y="1031906"/>
            <a:ext cx="3881120" cy="4641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0700" y="63"/>
            <a:ext cx="5251450" cy="1555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8400" y="244475"/>
            <a:ext cx="4248785" cy="3197225"/>
          </a:xfrm>
          <a:prstGeom prst="rect">
            <a:avLst/>
          </a:prstGeom>
        </p:spPr>
        <p:txBody>
          <a:bodyPr vert="horz" wrap="square" lIns="0" tIns="499109" rIns="0" bIns="0" rtlCol="0">
            <a:spAutoFit/>
          </a:bodyPr>
          <a:lstStyle/>
          <a:p>
            <a:pPr marL="12700" marR="5080">
              <a:lnSpc>
                <a:spcPct val="73400"/>
              </a:lnSpc>
              <a:spcBef>
                <a:spcPts val="3929"/>
              </a:spcBef>
            </a:pPr>
            <a:r>
              <a:rPr sz="12000" spc="-1750" dirty="0"/>
              <a:t>RESUME </a:t>
            </a:r>
            <a:r>
              <a:rPr sz="12000" spc="-1425" dirty="0"/>
              <a:t>BUILDER</a:t>
            </a:r>
            <a:endParaRPr sz="12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49" y="4219574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49" y="4610099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49" y="5010149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49" y="5400674"/>
            <a:ext cx="85725" cy="857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98400" y="3530600"/>
            <a:ext cx="5390515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90" dirty="0">
                <a:solidFill>
                  <a:srgbClr val="FFE73C"/>
                </a:solidFill>
                <a:latin typeface="Arial"/>
                <a:cs typeface="Arial"/>
              </a:rPr>
              <a:t>Frontend</a:t>
            </a:r>
            <a:r>
              <a:rPr sz="2400" b="1" spc="-55" dirty="0">
                <a:solidFill>
                  <a:srgbClr val="FFE73C"/>
                </a:solidFill>
                <a:latin typeface="Arial"/>
                <a:cs typeface="Arial"/>
              </a:rPr>
              <a:t> Development</a:t>
            </a:r>
            <a:r>
              <a:rPr sz="2400" b="1" spc="-50" dirty="0">
                <a:solidFill>
                  <a:srgbClr val="FFE73C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E73C"/>
                </a:solidFill>
                <a:latin typeface="Arial"/>
                <a:cs typeface="Arial"/>
              </a:rPr>
              <a:t>Project</a:t>
            </a:r>
            <a:endParaRPr sz="2400">
              <a:latin typeface="Arial"/>
              <a:cs typeface="Arial"/>
            </a:endParaRPr>
          </a:p>
          <a:p>
            <a:pPr marL="418465">
              <a:lnSpc>
                <a:spcPct val="100000"/>
              </a:lnSpc>
              <a:spcBef>
                <a:spcPts val="1495"/>
              </a:spcBef>
            </a:pPr>
            <a:r>
              <a:rPr sz="2000" b="1" spc="-60" dirty="0">
                <a:solidFill>
                  <a:srgbClr val="FFFFFF"/>
                </a:solidFill>
                <a:latin typeface="Arial"/>
                <a:cs typeface="Arial"/>
              </a:rPr>
              <a:t>Presented</a:t>
            </a:r>
            <a:r>
              <a:rPr sz="20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by:</a:t>
            </a:r>
            <a:r>
              <a:rPr sz="20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Amit</a:t>
            </a:r>
            <a:r>
              <a:rPr sz="20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Singh</a:t>
            </a:r>
            <a:endParaRPr sz="2000">
              <a:latin typeface="Lucida Sans Unicode"/>
              <a:cs typeface="Lucida Sans Unicode"/>
            </a:endParaRPr>
          </a:p>
          <a:p>
            <a:pPr marL="418465">
              <a:lnSpc>
                <a:spcPct val="100000"/>
              </a:lnSpc>
              <a:spcBef>
                <a:spcPts val="675"/>
              </a:spcBef>
            </a:pP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Course:</a:t>
            </a:r>
            <a:r>
              <a:rPr sz="20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B.Tech</a:t>
            </a:r>
            <a:r>
              <a:rPr sz="2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CSE</a:t>
            </a:r>
            <a:endParaRPr sz="2000">
              <a:latin typeface="Lucida Sans Unicode"/>
              <a:cs typeface="Lucida Sans Unicode"/>
            </a:endParaRPr>
          </a:p>
          <a:p>
            <a:pPr marL="418465">
              <a:lnSpc>
                <a:spcPct val="100000"/>
              </a:lnSpc>
              <a:spcBef>
                <a:spcPts val="750"/>
              </a:spcBef>
            </a:pP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Technologies:</a:t>
            </a:r>
            <a:r>
              <a:rPr sz="20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HTML,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CSS,</a:t>
            </a:r>
            <a:r>
              <a:rPr sz="2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JavaScript</a:t>
            </a:r>
            <a:endParaRPr sz="2000">
              <a:latin typeface="Lucida Sans Unicode"/>
              <a:cs typeface="Lucida Sans Unicode"/>
            </a:endParaRPr>
          </a:p>
          <a:p>
            <a:pPr marL="418465">
              <a:lnSpc>
                <a:spcPct val="100000"/>
              </a:lnSpc>
              <a:spcBef>
                <a:spcPts val="675"/>
              </a:spcBef>
            </a:pP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sz="20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Type:</a:t>
            </a:r>
            <a:r>
              <a:rPr sz="20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Single-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Page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Web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Application</a:t>
            </a:r>
            <a:endParaRPr sz="2000">
              <a:latin typeface="Lucida Sans Unicode"/>
              <a:cs typeface="Lucida Sans Unicode"/>
            </a:endParaRPr>
          </a:p>
          <a:p>
            <a:pPr marL="12700" marR="43180">
              <a:lnSpc>
                <a:spcPct val="106200"/>
              </a:lnSpc>
              <a:spcBef>
                <a:spcPts val="1875"/>
              </a:spcBef>
            </a:pP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“Create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professional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resume</a:t>
            </a:r>
            <a:r>
              <a:rPr sz="20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20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simple</a:t>
            </a:r>
            <a:r>
              <a:rPr sz="20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easy</a:t>
            </a:r>
            <a:r>
              <a:rPr sz="20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way.”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19975" y="1295399"/>
            <a:ext cx="4267200" cy="4267200"/>
          </a:xfrm>
          <a:prstGeom prst="rect">
            <a:avLst/>
          </a:prstGeom>
        </p:spPr>
      </p:pic>
      <p:pic>
        <p:nvPicPr>
          <p:cNvPr id="9" name="object 9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DBB803-A16C-38B3-F915-311C6C59E601}"/>
              </a:ext>
            </a:extLst>
          </p:cNvPr>
          <p:cNvSpPr/>
          <p:nvPr/>
        </p:nvSpPr>
        <p:spPr>
          <a:xfrm>
            <a:off x="10342244" y="6343650"/>
            <a:ext cx="1754504" cy="419100"/>
          </a:xfrm>
          <a:prstGeom prst="rect">
            <a:avLst/>
          </a:prstGeom>
          <a:solidFill>
            <a:srgbClr val="1C3BE3"/>
          </a:solidFill>
          <a:ln>
            <a:solidFill>
              <a:srgbClr val="1C3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0700" y="247713"/>
            <a:ext cx="111340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5" dirty="0">
                <a:solidFill>
                  <a:srgbClr val="091540"/>
                </a:solidFill>
              </a:rPr>
              <a:t>RESUME</a:t>
            </a:r>
            <a:r>
              <a:rPr spc="-545" dirty="0">
                <a:solidFill>
                  <a:srgbClr val="091540"/>
                </a:solidFill>
              </a:rPr>
              <a:t> </a:t>
            </a:r>
            <a:r>
              <a:rPr spc="-700" dirty="0">
                <a:solidFill>
                  <a:srgbClr val="091540"/>
                </a:solidFill>
              </a:rPr>
              <a:t>CREATION</a:t>
            </a:r>
            <a:r>
              <a:rPr spc="-545" dirty="0">
                <a:solidFill>
                  <a:srgbClr val="091540"/>
                </a:solidFill>
              </a:rPr>
              <a:t> </a:t>
            </a:r>
            <a:r>
              <a:rPr spc="-330" dirty="0">
                <a:solidFill>
                  <a:srgbClr val="091540"/>
                </a:solidFill>
              </a:rPr>
              <a:t>IS</a:t>
            </a:r>
            <a:r>
              <a:rPr spc="-540" dirty="0">
                <a:solidFill>
                  <a:srgbClr val="091540"/>
                </a:solidFill>
              </a:rPr>
              <a:t> </a:t>
            </a:r>
            <a:r>
              <a:rPr spc="-555" dirty="0">
                <a:solidFill>
                  <a:srgbClr val="091540"/>
                </a:solidFill>
              </a:rPr>
              <a:t>DIFFICULT</a:t>
            </a:r>
            <a:r>
              <a:rPr spc="-545" dirty="0">
                <a:solidFill>
                  <a:srgbClr val="091540"/>
                </a:solidFill>
              </a:rPr>
              <a:t> </a:t>
            </a:r>
            <a:r>
              <a:rPr spc="-765" dirty="0">
                <a:solidFill>
                  <a:srgbClr val="091540"/>
                </a:solidFill>
              </a:rPr>
              <a:t>FOR</a:t>
            </a:r>
            <a:r>
              <a:rPr spc="-540" dirty="0">
                <a:solidFill>
                  <a:srgbClr val="091540"/>
                </a:solidFill>
              </a:rPr>
              <a:t> </a:t>
            </a:r>
            <a:r>
              <a:rPr spc="-690" dirty="0">
                <a:solidFill>
                  <a:srgbClr val="091540"/>
                </a:solidFill>
              </a:rPr>
              <a:t>BEGINNERS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4400549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4791074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181599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581649"/>
            <a:ext cx="85725" cy="857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0700" y="1460531"/>
            <a:ext cx="6202680" cy="431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50" dirty="0">
                <a:solidFill>
                  <a:srgbClr val="091540"/>
                </a:solidFill>
                <a:latin typeface="Calibri"/>
                <a:cs typeface="Calibri"/>
              </a:rPr>
              <a:t>INTRODUCTION</a:t>
            </a:r>
            <a:endParaRPr sz="4000">
              <a:latin typeface="Calibri"/>
              <a:cs typeface="Calibri"/>
            </a:endParaRPr>
          </a:p>
          <a:p>
            <a:pPr marL="12700" marR="5080" algn="just">
              <a:lnSpc>
                <a:spcPct val="109400"/>
              </a:lnSpc>
              <a:spcBef>
                <a:spcPts val="1625"/>
              </a:spcBef>
            </a:pP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Resume</a:t>
            </a:r>
            <a:r>
              <a:rPr sz="2000" spc="-7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85" dirty="0">
                <a:solidFill>
                  <a:srgbClr val="091540"/>
                </a:solidFill>
                <a:latin typeface="Lucida Sans Unicode"/>
                <a:cs typeface="Lucida Sans Unicode"/>
              </a:rPr>
              <a:t>Builder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65" dirty="0">
                <a:solidFill>
                  <a:srgbClr val="091540"/>
                </a:solidFill>
                <a:latin typeface="Lucida Sans Unicode"/>
                <a:cs typeface="Lucida Sans Unicode"/>
              </a:rPr>
              <a:t>is</a:t>
            </a:r>
            <a:r>
              <a:rPr sz="2000" spc="-7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091540"/>
                </a:solidFill>
                <a:latin typeface="Lucida Sans Unicode"/>
                <a:cs typeface="Lucida Sans Unicode"/>
              </a:rPr>
              <a:t>a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5" dirty="0">
                <a:solidFill>
                  <a:srgbClr val="091540"/>
                </a:solidFill>
                <a:latin typeface="Lucida Sans Unicode"/>
                <a:cs typeface="Lucida Sans Unicode"/>
              </a:rPr>
              <a:t>single-</a:t>
            </a:r>
            <a:r>
              <a:rPr sz="2000" dirty="0">
                <a:solidFill>
                  <a:srgbClr val="091540"/>
                </a:solidFill>
                <a:latin typeface="Lucida Sans Unicode"/>
                <a:cs typeface="Lucida Sans Unicode"/>
              </a:rPr>
              <a:t>page</a:t>
            </a:r>
            <a:r>
              <a:rPr sz="2000" spc="-7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091540"/>
                </a:solidFill>
                <a:latin typeface="Lucida Sans Unicode"/>
                <a:cs typeface="Lucida Sans Unicode"/>
              </a:rPr>
              <a:t>web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75" dirty="0">
                <a:solidFill>
                  <a:srgbClr val="091540"/>
                </a:solidFill>
                <a:latin typeface="Lucida Sans Unicode"/>
                <a:cs typeface="Lucida Sans Unicode"/>
              </a:rPr>
              <a:t>application 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that 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helps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users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create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091540"/>
                </a:solidFill>
                <a:latin typeface="Lucida Sans Unicode"/>
                <a:cs typeface="Lucida Sans Unicode"/>
              </a:rPr>
              <a:t>a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professional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85" dirty="0">
                <a:solidFill>
                  <a:srgbClr val="091540"/>
                </a:solidFill>
                <a:latin typeface="Lucida Sans Unicode"/>
                <a:cs typeface="Lucida Sans Unicode"/>
              </a:rPr>
              <a:t>resume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091540"/>
                </a:solidFill>
                <a:latin typeface="Lucida Sans Unicode"/>
                <a:cs typeface="Lucida Sans Unicode"/>
              </a:rPr>
              <a:t>by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entering </a:t>
            </a:r>
            <a:r>
              <a:rPr sz="2000" spc="-65" dirty="0">
                <a:solidFill>
                  <a:srgbClr val="091540"/>
                </a:solidFill>
                <a:latin typeface="Lucida Sans Unicode"/>
                <a:cs typeface="Lucida Sans Unicode"/>
              </a:rPr>
              <a:t>their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information</a:t>
            </a:r>
            <a:r>
              <a:rPr sz="2000" spc="-4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40" dirty="0">
                <a:solidFill>
                  <a:srgbClr val="091540"/>
                </a:solidFill>
                <a:latin typeface="Lucida Sans Unicode"/>
                <a:cs typeface="Lucida Sans Unicode"/>
              </a:rPr>
              <a:t>in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35" dirty="0">
                <a:solidFill>
                  <a:srgbClr val="091540"/>
                </a:solidFill>
                <a:latin typeface="Lucida Sans Unicode"/>
                <a:cs typeface="Lucida Sans Unicode"/>
              </a:rPr>
              <a:t>one</a:t>
            </a:r>
            <a:r>
              <a:rPr sz="2000" spc="-4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webpage.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4000" b="1" spc="-590" dirty="0">
                <a:solidFill>
                  <a:srgbClr val="091540"/>
                </a:solidFill>
                <a:latin typeface="Calibri"/>
                <a:cs typeface="Calibri"/>
              </a:rPr>
              <a:t>PROBLEM</a:t>
            </a:r>
            <a:r>
              <a:rPr sz="4000" b="1" spc="-385" dirty="0">
                <a:solidFill>
                  <a:srgbClr val="091540"/>
                </a:solidFill>
                <a:latin typeface="Calibri"/>
                <a:cs typeface="Calibri"/>
              </a:rPr>
              <a:t> </a:t>
            </a:r>
            <a:r>
              <a:rPr sz="4000" b="1" spc="-570" dirty="0">
                <a:solidFill>
                  <a:srgbClr val="091540"/>
                </a:solidFill>
                <a:latin typeface="Calibri"/>
                <a:cs typeface="Calibri"/>
              </a:rPr>
              <a:t>STATEMENT</a:t>
            </a:r>
            <a:endParaRPr sz="4000">
              <a:latin typeface="Calibri"/>
              <a:cs typeface="Calibri"/>
            </a:endParaRPr>
          </a:p>
          <a:p>
            <a:pPr marL="418465">
              <a:lnSpc>
                <a:spcPct val="100000"/>
              </a:lnSpc>
              <a:spcBef>
                <a:spcPts val="1925"/>
              </a:spcBef>
            </a:pP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Formatting</a:t>
            </a:r>
            <a:r>
              <a:rPr sz="2000" spc="-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problems</a:t>
            </a:r>
            <a:endParaRPr sz="2000">
              <a:latin typeface="Lucida Sans Unicode"/>
              <a:cs typeface="Lucida Sans Unicode"/>
            </a:endParaRPr>
          </a:p>
          <a:p>
            <a:pPr marL="418465" marR="1967864">
              <a:lnSpc>
                <a:spcPct val="128099"/>
              </a:lnSpc>
            </a:pPr>
            <a:r>
              <a:rPr sz="2000" dirty="0">
                <a:solidFill>
                  <a:srgbClr val="091540"/>
                </a:solidFill>
                <a:latin typeface="Lucida Sans Unicode"/>
                <a:cs typeface="Lucida Sans Unicode"/>
              </a:rPr>
              <a:t>Lack</a:t>
            </a:r>
            <a:r>
              <a:rPr sz="2000" spc="-14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of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65" dirty="0">
                <a:solidFill>
                  <a:srgbClr val="091540"/>
                </a:solidFill>
                <a:latin typeface="Lucida Sans Unicode"/>
                <a:cs typeface="Lucida Sans Unicode"/>
              </a:rPr>
              <a:t>proper</a:t>
            </a:r>
            <a:r>
              <a:rPr sz="2000" spc="-9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85" dirty="0">
                <a:solidFill>
                  <a:srgbClr val="091540"/>
                </a:solidFill>
                <a:latin typeface="Lucida Sans Unicode"/>
                <a:cs typeface="Lucida Sans Unicode"/>
              </a:rPr>
              <a:t>resume</a:t>
            </a:r>
            <a:r>
              <a:rPr sz="2000" spc="-7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structure 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More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time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required</a:t>
            </a:r>
            <a:r>
              <a:rPr sz="2000" spc="-6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65" dirty="0">
                <a:solidFill>
                  <a:srgbClr val="091540"/>
                </a:solidFill>
                <a:latin typeface="Lucida Sans Unicode"/>
                <a:cs typeface="Lucida Sans Unicode"/>
              </a:rPr>
              <a:t>for 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designing</a:t>
            </a:r>
            <a:endParaRPr sz="2000">
              <a:latin typeface="Lucida Sans Unicode"/>
              <a:cs typeface="Lucida Sans Unicode"/>
            </a:endParaRPr>
          </a:p>
          <a:p>
            <a:pPr marL="418465">
              <a:lnSpc>
                <a:spcPct val="100000"/>
              </a:lnSpc>
              <a:spcBef>
                <a:spcPts val="750"/>
              </a:spcBef>
            </a:pPr>
            <a:r>
              <a:rPr sz="2000" spc="-90" dirty="0">
                <a:solidFill>
                  <a:srgbClr val="091540"/>
                </a:solidFill>
                <a:latin typeface="Lucida Sans Unicode"/>
                <a:cs typeface="Lucida Sans Unicode"/>
              </a:rPr>
              <a:t>Difficulty</a:t>
            </a:r>
            <a:r>
              <a:rPr sz="2000" spc="1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40" dirty="0">
                <a:solidFill>
                  <a:srgbClr val="091540"/>
                </a:solidFill>
                <a:latin typeface="Lucida Sans Unicode"/>
                <a:cs typeface="Lucida Sans Unicode"/>
              </a:rPr>
              <a:t>in</a:t>
            </a:r>
            <a:r>
              <a:rPr sz="2000" spc="1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10" dirty="0">
                <a:solidFill>
                  <a:srgbClr val="091540"/>
                </a:solidFill>
                <a:latin typeface="Lucida Sans Unicode"/>
                <a:cs typeface="Lucida Sans Unicode"/>
              </a:rPr>
              <a:t>organizing</a:t>
            </a:r>
            <a:r>
              <a:rPr sz="2000" spc="1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information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34249" y="1362074"/>
            <a:ext cx="4324350" cy="4657725"/>
          </a:xfrm>
          <a:prstGeom prst="rect">
            <a:avLst/>
          </a:prstGeom>
          <a:solidFill>
            <a:srgbClr val="F1F4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40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</a:pPr>
            <a:r>
              <a:rPr sz="4000" b="1" spc="-550" dirty="0">
                <a:solidFill>
                  <a:srgbClr val="091540"/>
                </a:solidFill>
                <a:latin typeface="Calibri"/>
                <a:cs typeface="Calibri"/>
              </a:rPr>
              <a:t>SOLUTION</a:t>
            </a:r>
            <a:endParaRPr sz="4000">
              <a:latin typeface="Calibri"/>
              <a:cs typeface="Calibri"/>
            </a:endParaRPr>
          </a:p>
          <a:p>
            <a:pPr marL="224154" marR="272415">
              <a:lnSpc>
                <a:spcPct val="108300"/>
              </a:lnSpc>
              <a:spcBef>
                <a:spcPts val="1650"/>
              </a:spcBef>
            </a:pPr>
            <a:r>
              <a:rPr sz="2000" spc="-85" dirty="0">
                <a:solidFill>
                  <a:srgbClr val="091540"/>
                </a:solidFill>
                <a:latin typeface="Lucida Sans Unicode"/>
                <a:cs typeface="Lucida Sans Unicode"/>
              </a:rPr>
              <a:t>Our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65" dirty="0">
                <a:solidFill>
                  <a:srgbClr val="091540"/>
                </a:solidFill>
                <a:latin typeface="Lucida Sans Unicode"/>
                <a:cs typeface="Lucida Sans Unicode"/>
              </a:rPr>
              <a:t>project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provides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091540"/>
                </a:solidFill>
                <a:latin typeface="Lucida Sans Unicode"/>
                <a:cs typeface="Lucida Sans Unicode"/>
              </a:rPr>
              <a:t>a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simple 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single 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webpage</a:t>
            </a:r>
            <a:r>
              <a:rPr sz="2000" spc="-9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where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users</a:t>
            </a:r>
            <a:r>
              <a:rPr sz="2000" spc="-8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can 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enter</a:t>
            </a:r>
            <a:r>
              <a:rPr sz="2000" spc="-9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65" dirty="0">
                <a:solidFill>
                  <a:srgbClr val="091540"/>
                </a:solidFill>
                <a:latin typeface="Lucida Sans Unicode"/>
                <a:cs typeface="Lucida Sans Unicode"/>
              </a:rPr>
              <a:t>their</a:t>
            </a:r>
            <a:r>
              <a:rPr sz="2000" spc="-9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75" dirty="0">
                <a:solidFill>
                  <a:srgbClr val="091540"/>
                </a:solidFill>
                <a:latin typeface="Lucida Sans Unicode"/>
                <a:cs typeface="Lucida Sans Unicode"/>
              </a:rPr>
              <a:t>details</a:t>
            </a:r>
            <a:r>
              <a:rPr sz="2000" spc="-8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and</a:t>
            </a:r>
            <a:r>
              <a:rPr sz="2000" spc="-9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create</a:t>
            </a:r>
            <a:r>
              <a:rPr sz="2000" spc="-9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a </a:t>
            </a:r>
            <a:r>
              <a:rPr sz="2000" spc="-60" dirty="0">
                <a:solidFill>
                  <a:srgbClr val="091540"/>
                </a:solidFill>
                <a:latin typeface="Lucida Sans Unicode"/>
                <a:cs typeface="Lucida Sans Unicode"/>
              </a:rPr>
              <a:t>properly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structured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resume.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9" name="object 9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FF0E31-FB08-E90A-BB40-6DD6D727786D}"/>
              </a:ext>
            </a:extLst>
          </p:cNvPr>
          <p:cNvSpPr/>
          <p:nvPr/>
        </p:nvSpPr>
        <p:spPr>
          <a:xfrm>
            <a:off x="10342244" y="6343650"/>
            <a:ext cx="1754504" cy="41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0700" y="200088"/>
            <a:ext cx="5123815" cy="2231390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12700" marR="5080">
              <a:lnSpc>
                <a:spcPct val="79200"/>
              </a:lnSpc>
              <a:spcBef>
                <a:spcPts val="1495"/>
              </a:spcBef>
            </a:pPr>
            <a:r>
              <a:rPr spc="-910" dirty="0">
                <a:solidFill>
                  <a:srgbClr val="091540"/>
                </a:solidFill>
              </a:rPr>
              <a:t>ONE</a:t>
            </a:r>
            <a:r>
              <a:rPr spc="-555" dirty="0">
                <a:solidFill>
                  <a:srgbClr val="091540"/>
                </a:solidFill>
              </a:rPr>
              <a:t> </a:t>
            </a:r>
            <a:r>
              <a:rPr spc="-810" dirty="0">
                <a:solidFill>
                  <a:srgbClr val="091540"/>
                </a:solidFill>
              </a:rPr>
              <a:t>PAGE</a:t>
            </a:r>
            <a:r>
              <a:rPr spc="-555" dirty="0">
                <a:solidFill>
                  <a:srgbClr val="091540"/>
                </a:solidFill>
              </a:rPr>
              <a:t> </a:t>
            </a:r>
            <a:r>
              <a:rPr spc="-660" dirty="0">
                <a:solidFill>
                  <a:srgbClr val="091540"/>
                </a:solidFill>
              </a:rPr>
              <a:t>BRINGS</a:t>
            </a:r>
            <a:r>
              <a:rPr spc="-550" dirty="0">
                <a:solidFill>
                  <a:srgbClr val="091540"/>
                </a:solidFill>
              </a:rPr>
              <a:t> </a:t>
            </a:r>
            <a:r>
              <a:rPr spc="-685" dirty="0">
                <a:solidFill>
                  <a:srgbClr val="091540"/>
                </a:solidFill>
              </a:rPr>
              <a:t>THE </a:t>
            </a:r>
            <a:r>
              <a:rPr spc="-894" dirty="0">
                <a:solidFill>
                  <a:srgbClr val="091540"/>
                </a:solidFill>
              </a:rPr>
              <a:t>WHOLE</a:t>
            </a:r>
            <a:r>
              <a:rPr spc="-545" dirty="0">
                <a:solidFill>
                  <a:srgbClr val="091540"/>
                </a:solidFill>
              </a:rPr>
              <a:t> </a:t>
            </a:r>
            <a:r>
              <a:rPr spc="-815" dirty="0">
                <a:solidFill>
                  <a:srgbClr val="091540"/>
                </a:solidFill>
              </a:rPr>
              <a:t>RESUME </a:t>
            </a:r>
            <a:r>
              <a:rPr spc="-740" dirty="0">
                <a:solidFill>
                  <a:srgbClr val="091540"/>
                </a:solidFill>
              </a:rPr>
              <a:t>TOGETHER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3486149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4210049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4600574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000624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391149"/>
            <a:ext cx="85725" cy="857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20700" y="2508281"/>
            <a:ext cx="5578475" cy="3413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430" dirty="0">
                <a:solidFill>
                  <a:srgbClr val="091540"/>
                </a:solidFill>
                <a:latin typeface="Calibri"/>
                <a:cs typeface="Calibri"/>
              </a:rPr>
              <a:t>OBJECTIVES</a:t>
            </a:r>
            <a:endParaRPr sz="4000">
              <a:latin typeface="Calibri"/>
              <a:cs typeface="Calibri"/>
            </a:endParaRPr>
          </a:p>
          <a:p>
            <a:pPr marL="418465" marR="5080">
              <a:lnSpc>
                <a:spcPct val="109400"/>
              </a:lnSpc>
              <a:spcBef>
                <a:spcPts val="1625"/>
              </a:spcBef>
            </a:pPr>
            <a:r>
              <a:rPr sz="2000" spc="-30" dirty="0">
                <a:solidFill>
                  <a:srgbClr val="091540"/>
                </a:solidFill>
                <a:latin typeface="Lucida Sans Unicode"/>
                <a:cs typeface="Lucida Sans Unicode"/>
              </a:rPr>
              <a:t>Make</a:t>
            </a:r>
            <a:r>
              <a:rPr sz="2000" spc="-12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85" dirty="0">
                <a:solidFill>
                  <a:srgbClr val="091540"/>
                </a:solidFill>
                <a:latin typeface="Lucida Sans Unicode"/>
                <a:cs typeface="Lucida Sans Unicode"/>
              </a:rPr>
              <a:t>resume</a:t>
            </a:r>
            <a:r>
              <a:rPr sz="2000" spc="-7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creation</a:t>
            </a:r>
            <a:r>
              <a:rPr sz="2000" spc="-9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simple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and</a:t>
            </a:r>
            <a:r>
              <a:rPr sz="2000" spc="-9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60" dirty="0">
                <a:solidFill>
                  <a:srgbClr val="091540"/>
                </a:solidFill>
                <a:latin typeface="Lucida Sans Unicode"/>
                <a:cs typeface="Lucida Sans Unicode"/>
              </a:rPr>
              <a:t>beginner-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friendly.</a:t>
            </a:r>
            <a:endParaRPr sz="2000">
              <a:latin typeface="Lucida Sans Unicode"/>
              <a:cs typeface="Lucida Sans Unicode"/>
            </a:endParaRPr>
          </a:p>
          <a:p>
            <a:pPr marL="418465" marR="574675">
              <a:lnSpc>
                <a:spcPct val="128099"/>
              </a:lnSpc>
            </a:pPr>
            <a:r>
              <a:rPr sz="2000" dirty="0">
                <a:solidFill>
                  <a:srgbClr val="091540"/>
                </a:solidFill>
                <a:latin typeface="Lucida Sans Unicode"/>
                <a:cs typeface="Lucida Sans Unicode"/>
              </a:rPr>
              <a:t>Save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time</a:t>
            </a:r>
            <a:r>
              <a:rPr sz="2000" spc="-7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65" dirty="0">
                <a:solidFill>
                  <a:srgbClr val="091540"/>
                </a:solidFill>
                <a:latin typeface="Lucida Sans Unicode"/>
                <a:cs typeface="Lucida Sans Unicode"/>
              </a:rPr>
              <a:t>while</a:t>
            </a:r>
            <a:r>
              <a:rPr sz="2000" spc="-7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creating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091540"/>
                </a:solidFill>
                <a:latin typeface="Lucida Sans Unicode"/>
                <a:cs typeface="Lucida Sans Unicode"/>
              </a:rPr>
              <a:t>a</a:t>
            </a:r>
            <a:r>
              <a:rPr sz="2000" spc="-7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resume. 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Provide </a:t>
            </a:r>
            <a:r>
              <a:rPr sz="2000" dirty="0">
                <a:solidFill>
                  <a:srgbClr val="091540"/>
                </a:solidFill>
                <a:latin typeface="Lucida Sans Unicode"/>
                <a:cs typeface="Lucida Sans Unicode"/>
              </a:rPr>
              <a:t>a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30" dirty="0">
                <a:solidFill>
                  <a:srgbClr val="091540"/>
                </a:solidFill>
                <a:latin typeface="Lucida Sans Unicode"/>
                <a:cs typeface="Lucida Sans Unicode"/>
              </a:rPr>
              <a:t>clean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and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professional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75" dirty="0">
                <a:solidFill>
                  <a:srgbClr val="091540"/>
                </a:solidFill>
                <a:latin typeface="Lucida Sans Unicode"/>
                <a:cs typeface="Lucida Sans Unicode"/>
              </a:rPr>
              <a:t>layout.</a:t>
            </a:r>
            <a:endParaRPr sz="2000">
              <a:latin typeface="Lucida Sans Unicode"/>
              <a:cs typeface="Lucida Sans Unicode"/>
            </a:endParaRPr>
          </a:p>
          <a:p>
            <a:pPr marL="418465" marR="323850" algn="just">
              <a:lnSpc>
                <a:spcPct val="118700"/>
              </a:lnSpc>
              <a:spcBef>
                <a:spcPts val="300"/>
              </a:spcBef>
            </a:pP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Practice</a:t>
            </a:r>
            <a:r>
              <a:rPr sz="2000" spc="-3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95" dirty="0">
                <a:solidFill>
                  <a:srgbClr val="091540"/>
                </a:solidFill>
                <a:latin typeface="Lucida Sans Unicode"/>
                <a:cs typeface="Lucida Sans Unicode"/>
              </a:rPr>
              <a:t>frontend</a:t>
            </a:r>
            <a:r>
              <a:rPr sz="2000" spc="-3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development</a:t>
            </a:r>
            <a:r>
              <a:rPr sz="2000" spc="-3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concepts. 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Display</a:t>
            </a:r>
            <a:r>
              <a:rPr sz="2000" spc="-4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all</a:t>
            </a:r>
            <a:r>
              <a:rPr sz="2000" spc="-3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85" dirty="0">
                <a:solidFill>
                  <a:srgbClr val="091540"/>
                </a:solidFill>
                <a:latin typeface="Lucida Sans Unicode"/>
                <a:cs typeface="Lucida Sans Unicode"/>
              </a:rPr>
              <a:t>resume</a:t>
            </a:r>
            <a:r>
              <a:rPr sz="2000" spc="-4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information</a:t>
            </a:r>
            <a:r>
              <a:rPr sz="2000" spc="-3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on</a:t>
            </a:r>
            <a:r>
              <a:rPr sz="2000" spc="-4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091540"/>
                </a:solidFill>
                <a:latin typeface="Lucida Sans Unicode"/>
                <a:cs typeface="Lucida Sans Unicode"/>
              </a:rPr>
              <a:t>a</a:t>
            </a:r>
            <a:r>
              <a:rPr sz="2000" spc="-3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45" dirty="0">
                <a:solidFill>
                  <a:srgbClr val="091540"/>
                </a:solidFill>
                <a:latin typeface="Lucida Sans Unicode"/>
                <a:cs typeface="Lucida Sans Unicode"/>
              </a:rPr>
              <a:t>single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webpage.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905624" y="0"/>
            <a:ext cx="5286375" cy="6858000"/>
            <a:chOff x="6905624" y="0"/>
            <a:chExt cx="5286375" cy="6858000"/>
          </a:xfrm>
        </p:grpSpPr>
        <p:sp>
          <p:nvSpPr>
            <p:cNvPr id="10" name="object 10"/>
            <p:cNvSpPr/>
            <p:nvPr/>
          </p:nvSpPr>
          <p:spPr>
            <a:xfrm>
              <a:off x="6905624" y="0"/>
              <a:ext cx="5286375" cy="6858000"/>
            </a:xfrm>
            <a:custGeom>
              <a:avLst/>
              <a:gdLst/>
              <a:ahLst/>
              <a:cxnLst/>
              <a:rect l="l" t="t" r="r" b="b"/>
              <a:pathLst>
                <a:path w="5286375" h="6858000">
                  <a:moveTo>
                    <a:pt x="5286374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286374" y="0"/>
                  </a:lnTo>
                  <a:lnTo>
                    <a:pt x="5286374" y="6857999"/>
                  </a:lnTo>
                  <a:close/>
                </a:path>
              </a:pathLst>
            </a:custGeom>
            <a:solidFill>
              <a:srgbClr val="F1F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67574" y="381000"/>
              <a:ext cx="2800349" cy="15906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48" y="3257549"/>
              <a:ext cx="85725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48" y="3648074"/>
              <a:ext cx="85725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48" y="4038599"/>
              <a:ext cx="85725" cy="85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48" y="4438649"/>
              <a:ext cx="85725" cy="85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48" y="4829174"/>
              <a:ext cx="85725" cy="85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48" y="5219699"/>
              <a:ext cx="85725" cy="857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48" y="5619749"/>
              <a:ext cx="85725" cy="8572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251600" y="2270156"/>
            <a:ext cx="4401820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685" dirty="0">
                <a:solidFill>
                  <a:srgbClr val="091540"/>
                </a:solidFill>
                <a:latin typeface="Calibri"/>
                <a:cs typeface="Calibri"/>
              </a:rPr>
              <a:t>MAIN</a:t>
            </a:r>
            <a:r>
              <a:rPr sz="4000" b="1" spc="-390" dirty="0">
                <a:solidFill>
                  <a:srgbClr val="091540"/>
                </a:solidFill>
                <a:latin typeface="Calibri"/>
                <a:cs typeface="Calibri"/>
              </a:rPr>
              <a:t> </a:t>
            </a:r>
            <a:r>
              <a:rPr sz="4000" b="1" spc="-465" dirty="0">
                <a:solidFill>
                  <a:srgbClr val="091540"/>
                </a:solidFill>
                <a:latin typeface="Calibri"/>
                <a:cs typeface="Calibri"/>
              </a:rPr>
              <a:t>FEATURES</a:t>
            </a:r>
            <a:endParaRPr sz="4000">
              <a:latin typeface="Calibri"/>
              <a:cs typeface="Calibri"/>
            </a:endParaRPr>
          </a:p>
          <a:p>
            <a:pPr marL="418465" marR="1590675">
              <a:lnSpc>
                <a:spcPct val="128099"/>
              </a:lnSpc>
              <a:spcBef>
                <a:spcPts val="1250"/>
              </a:spcBef>
            </a:pPr>
            <a:r>
              <a:rPr sz="2000" spc="-65" dirty="0">
                <a:solidFill>
                  <a:srgbClr val="091540"/>
                </a:solidFill>
                <a:latin typeface="Lucida Sans Unicode"/>
                <a:cs typeface="Lucida Sans Unicode"/>
              </a:rPr>
              <a:t>Personal</a:t>
            </a:r>
            <a:r>
              <a:rPr sz="2000" spc="-4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85" dirty="0">
                <a:solidFill>
                  <a:srgbClr val="091540"/>
                </a:solidFill>
                <a:latin typeface="Lucida Sans Unicode"/>
                <a:cs typeface="Lucida Sans Unicode"/>
              </a:rPr>
              <a:t>Information 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Education</a:t>
            </a:r>
            <a:r>
              <a:rPr sz="2000" spc="-1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Details Skills</a:t>
            </a:r>
            <a:endParaRPr sz="2000">
              <a:latin typeface="Lucida Sans Unicode"/>
              <a:cs typeface="Lucida Sans Unicode"/>
            </a:endParaRPr>
          </a:p>
          <a:p>
            <a:pPr marL="418465" marR="2078355">
              <a:lnSpc>
                <a:spcPct val="128099"/>
              </a:lnSpc>
              <a:spcBef>
                <a:spcPts val="75"/>
              </a:spcBef>
            </a:pP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Projects Experience 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Resume</a:t>
            </a:r>
            <a:r>
              <a:rPr sz="2000" spc="-10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35" dirty="0">
                <a:solidFill>
                  <a:srgbClr val="091540"/>
                </a:solidFill>
                <a:latin typeface="Lucida Sans Unicode"/>
                <a:cs typeface="Lucida Sans Unicode"/>
              </a:rPr>
              <a:t>Preview</a:t>
            </a:r>
            <a:endParaRPr sz="2000">
              <a:latin typeface="Lucida Sans Unicode"/>
              <a:cs typeface="Lucida Sans Unicode"/>
            </a:endParaRPr>
          </a:p>
          <a:p>
            <a:pPr marL="418465">
              <a:lnSpc>
                <a:spcPct val="100000"/>
              </a:lnSpc>
              <a:spcBef>
                <a:spcPts val="750"/>
              </a:spcBef>
            </a:pP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Simple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and</a:t>
            </a:r>
            <a:r>
              <a:rPr sz="2000" spc="-7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10" dirty="0">
                <a:solidFill>
                  <a:srgbClr val="091540"/>
                </a:solidFill>
                <a:latin typeface="Lucida Sans Unicode"/>
                <a:cs typeface="Lucida Sans Unicode"/>
              </a:rPr>
              <a:t>user-</a:t>
            </a:r>
            <a:r>
              <a:rPr sz="2000" spc="-60" dirty="0">
                <a:solidFill>
                  <a:srgbClr val="091540"/>
                </a:solidFill>
                <a:latin typeface="Lucida Sans Unicode"/>
                <a:cs typeface="Lucida Sans Unicode"/>
              </a:rPr>
              <a:t>friendly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30" dirty="0">
                <a:solidFill>
                  <a:srgbClr val="091540"/>
                </a:solidFill>
                <a:latin typeface="Lucida Sans Unicode"/>
                <a:cs typeface="Lucida Sans Unicode"/>
              </a:rPr>
              <a:t>interface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20" name="object 20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336404C-461A-A7CD-8553-7714B70D1041}"/>
              </a:ext>
            </a:extLst>
          </p:cNvPr>
          <p:cNvSpPr/>
          <p:nvPr/>
        </p:nvSpPr>
        <p:spPr>
          <a:xfrm>
            <a:off x="10287000" y="6309741"/>
            <a:ext cx="1754504" cy="419100"/>
          </a:xfrm>
          <a:prstGeom prst="rect">
            <a:avLst/>
          </a:prstGeom>
          <a:solidFill>
            <a:srgbClr val="F1F4FD"/>
          </a:solidFill>
          <a:ln>
            <a:solidFill>
              <a:srgbClr val="F1F4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276288"/>
            <a:ext cx="9244330" cy="1555115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12700" marR="5080">
              <a:lnSpc>
                <a:spcPct val="79200"/>
              </a:lnSpc>
              <a:spcBef>
                <a:spcPts val="1495"/>
              </a:spcBef>
            </a:pPr>
            <a:r>
              <a:rPr spc="-685" dirty="0">
                <a:solidFill>
                  <a:srgbClr val="091540"/>
                </a:solidFill>
              </a:rPr>
              <a:t>HTML,</a:t>
            </a:r>
            <a:r>
              <a:rPr spc="-550" dirty="0">
                <a:solidFill>
                  <a:srgbClr val="091540"/>
                </a:solidFill>
              </a:rPr>
              <a:t> </a:t>
            </a:r>
            <a:r>
              <a:rPr spc="-395" dirty="0">
                <a:solidFill>
                  <a:srgbClr val="091540"/>
                </a:solidFill>
              </a:rPr>
              <a:t>CSS</a:t>
            </a:r>
            <a:r>
              <a:rPr spc="-550" dirty="0">
                <a:solidFill>
                  <a:srgbClr val="091540"/>
                </a:solidFill>
              </a:rPr>
              <a:t> </a:t>
            </a:r>
            <a:r>
              <a:rPr spc="-915" dirty="0">
                <a:solidFill>
                  <a:srgbClr val="091540"/>
                </a:solidFill>
              </a:rPr>
              <a:t>AND</a:t>
            </a:r>
            <a:r>
              <a:rPr spc="-550" dirty="0">
                <a:solidFill>
                  <a:srgbClr val="091540"/>
                </a:solidFill>
              </a:rPr>
              <a:t> </a:t>
            </a:r>
            <a:r>
              <a:rPr spc="-630" dirty="0">
                <a:solidFill>
                  <a:srgbClr val="091540"/>
                </a:solidFill>
              </a:rPr>
              <a:t>JAVASCRIPT</a:t>
            </a:r>
            <a:r>
              <a:rPr spc="-545" dirty="0">
                <a:solidFill>
                  <a:srgbClr val="091540"/>
                </a:solidFill>
              </a:rPr>
              <a:t> </a:t>
            </a:r>
            <a:r>
              <a:rPr spc="-905" dirty="0">
                <a:solidFill>
                  <a:srgbClr val="091540"/>
                </a:solidFill>
              </a:rPr>
              <a:t>POWER</a:t>
            </a:r>
            <a:r>
              <a:rPr spc="-550" dirty="0">
                <a:solidFill>
                  <a:srgbClr val="091540"/>
                </a:solidFill>
              </a:rPr>
              <a:t> </a:t>
            </a:r>
            <a:r>
              <a:rPr spc="-685" dirty="0">
                <a:solidFill>
                  <a:srgbClr val="091540"/>
                </a:solidFill>
              </a:rPr>
              <a:t>THE </a:t>
            </a:r>
            <a:r>
              <a:rPr spc="-585" dirty="0">
                <a:solidFill>
                  <a:srgbClr val="091540"/>
                </a:solidFill>
              </a:rPr>
              <a:t>EXPERIENCE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4" y="2914649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4" y="3638549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4" y="4695824"/>
            <a:ext cx="85725" cy="857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44500" y="1936781"/>
            <a:ext cx="5365115" cy="361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00" dirty="0">
                <a:solidFill>
                  <a:srgbClr val="091540"/>
                </a:solidFill>
                <a:latin typeface="Calibri"/>
                <a:cs typeface="Calibri"/>
              </a:rPr>
              <a:t>TECHNOLOGIES</a:t>
            </a:r>
            <a:r>
              <a:rPr sz="4000" b="1" spc="-290" dirty="0">
                <a:solidFill>
                  <a:srgbClr val="091540"/>
                </a:solidFill>
                <a:latin typeface="Calibri"/>
                <a:cs typeface="Calibri"/>
              </a:rPr>
              <a:t> </a:t>
            </a:r>
            <a:r>
              <a:rPr sz="4000" b="1" spc="-530" dirty="0">
                <a:solidFill>
                  <a:srgbClr val="091540"/>
                </a:solidFill>
                <a:latin typeface="Calibri"/>
                <a:cs typeface="Calibri"/>
              </a:rPr>
              <a:t>USED</a:t>
            </a:r>
            <a:endParaRPr sz="4000">
              <a:latin typeface="Calibri"/>
              <a:cs typeface="Calibri"/>
            </a:endParaRPr>
          </a:p>
          <a:p>
            <a:pPr marL="418465" marR="443230">
              <a:lnSpc>
                <a:spcPct val="118700"/>
              </a:lnSpc>
              <a:spcBef>
                <a:spcPts val="1400"/>
              </a:spcBef>
            </a:pPr>
            <a:r>
              <a:rPr sz="2000" b="1" spc="-95" dirty="0">
                <a:solidFill>
                  <a:srgbClr val="091540"/>
                </a:solidFill>
                <a:latin typeface="Arial"/>
                <a:cs typeface="Arial"/>
              </a:rPr>
              <a:t>HTML:</a:t>
            </a:r>
            <a:r>
              <a:rPr sz="2000" b="1" spc="-45" dirty="0">
                <a:solidFill>
                  <a:srgbClr val="0915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091540"/>
                </a:solidFill>
                <a:latin typeface="Lucida Sans Unicode"/>
                <a:cs typeface="Lucida Sans Unicode"/>
              </a:rPr>
              <a:t>Creates</a:t>
            </a:r>
            <a:r>
              <a:rPr sz="2000" spc="-9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the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structure 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of</a:t>
            </a:r>
            <a:r>
              <a:rPr sz="2000" spc="-9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the </a:t>
            </a:r>
            <a:r>
              <a:rPr sz="2000" spc="-45" dirty="0">
                <a:solidFill>
                  <a:srgbClr val="091540"/>
                </a:solidFill>
                <a:latin typeface="Lucida Sans Unicode"/>
                <a:cs typeface="Lucida Sans Unicode"/>
              </a:rPr>
              <a:t>webpage,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forms</a:t>
            </a:r>
            <a:r>
              <a:rPr sz="2000" spc="-8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and</a:t>
            </a:r>
            <a:r>
              <a:rPr sz="2000" spc="-85" dirty="0">
                <a:solidFill>
                  <a:srgbClr val="091540"/>
                </a:solidFill>
                <a:latin typeface="Lucida Sans Unicode"/>
                <a:cs typeface="Lucida Sans Unicode"/>
              </a:rPr>
              <a:t> resume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sections. </a:t>
            </a:r>
            <a:r>
              <a:rPr sz="2000" b="1" spc="-135" dirty="0">
                <a:solidFill>
                  <a:srgbClr val="091540"/>
                </a:solidFill>
                <a:latin typeface="Arial"/>
                <a:cs typeface="Arial"/>
              </a:rPr>
              <a:t>CSS:</a:t>
            </a:r>
            <a:r>
              <a:rPr sz="2000" b="1" spc="20" dirty="0">
                <a:solidFill>
                  <a:srgbClr val="091540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Provides </a:t>
            </a:r>
            <a:r>
              <a:rPr sz="2000" spc="-85" dirty="0">
                <a:solidFill>
                  <a:srgbClr val="091540"/>
                </a:solidFill>
                <a:latin typeface="Lucida Sans Unicode"/>
                <a:cs typeface="Lucida Sans Unicode"/>
              </a:rPr>
              <a:t>styling,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5" dirty="0">
                <a:solidFill>
                  <a:srgbClr val="091540"/>
                </a:solidFill>
                <a:latin typeface="Lucida Sans Unicode"/>
                <a:cs typeface="Lucida Sans Unicode"/>
              </a:rPr>
              <a:t>layout,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85" dirty="0">
                <a:solidFill>
                  <a:srgbClr val="091540"/>
                </a:solidFill>
                <a:latin typeface="Lucida Sans Unicode"/>
                <a:cs typeface="Lucida Sans Unicode"/>
              </a:rPr>
              <a:t>fonts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and</a:t>
            </a:r>
            <a:endParaRPr sz="2000">
              <a:latin typeface="Lucida Sans Unicode"/>
              <a:cs typeface="Lucida Sans Unicode"/>
            </a:endParaRPr>
          </a:p>
          <a:p>
            <a:pPr marL="418465" marR="349885">
              <a:lnSpc>
                <a:spcPct val="106300"/>
              </a:lnSpc>
              <a:spcBef>
                <a:spcPts val="75"/>
              </a:spcBef>
            </a:pPr>
            <a:r>
              <a:rPr sz="2000" spc="-65" dirty="0">
                <a:solidFill>
                  <a:srgbClr val="091540"/>
                </a:solidFill>
                <a:latin typeface="Lucida Sans Unicode"/>
                <a:cs typeface="Lucida Sans Unicode"/>
              </a:rPr>
              <a:t>spacing;</a:t>
            </a:r>
            <a:r>
              <a:rPr sz="2000" spc="-9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65" dirty="0">
                <a:solidFill>
                  <a:srgbClr val="091540"/>
                </a:solidFill>
                <a:latin typeface="Lucida Sans Unicode"/>
                <a:cs typeface="Lucida Sans Unicode"/>
              </a:rPr>
              <a:t>makes</a:t>
            </a:r>
            <a:r>
              <a:rPr sz="2000" spc="-9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the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webpage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attractive and</a:t>
            </a:r>
            <a:r>
              <a:rPr sz="2000" spc="-13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responsive.</a:t>
            </a:r>
            <a:endParaRPr sz="2000">
              <a:latin typeface="Lucida Sans Unicode"/>
              <a:cs typeface="Lucida Sans Unicode"/>
            </a:endParaRPr>
          </a:p>
          <a:p>
            <a:pPr marL="418465" marR="5080">
              <a:lnSpc>
                <a:spcPct val="107800"/>
              </a:lnSpc>
              <a:spcBef>
                <a:spcPts val="560"/>
              </a:spcBef>
            </a:pPr>
            <a:r>
              <a:rPr sz="2000" b="1" spc="-100" dirty="0">
                <a:solidFill>
                  <a:srgbClr val="091540"/>
                </a:solidFill>
                <a:latin typeface="Arial"/>
                <a:cs typeface="Arial"/>
              </a:rPr>
              <a:t>JavaScript:</a:t>
            </a:r>
            <a:r>
              <a:rPr sz="2000" b="1" spc="-40" dirty="0">
                <a:solidFill>
                  <a:srgbClr val="091540"/>
                </a:solidFill>
                <a:latin typeface="Arial"/>
                <a:cs typeface="Arial"/>
              </a:rPr>
              <a:t> </a:t>
            </a:r>
            <a:r>
              <a:rPr sz="2000" spc="-130" dirty="0">
                <a:solidFill>
                  <a:srgbClr val="091540"/>
                </a:solidFill>
                <a:latin typeface="Lucida Sans Unicode"/>
                <a:cs typeface="Lucida Sans Unicode"/>
              </a:rPr>
              <a:t>Takes</a:t>
            </a:r>
            <a:r>
              <a:rPr sz="2000" spc="-3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60" dirty="0">
                <a:solidFill>
                  <a:srgbClr val="091540"/>
                </a:solidFill>
                <a:latin typeface="Lucida Sans Unicode"/>
                <a:cs typeface="Lucida Sans Unicode"/>
              </a:rPr>
              <a:t>user</a:t>
            </a:r>
            <a:r>
              <a:rPr sz="2000" spc="-6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30" dirty="0">
                <a:solidFill>
                  <a:srgbClr val="091540"/>
                </a:solidFill>
                <a:latin typeface="Lucida Sans Unicode"/>
                <a:cs typeface="Lucida Sans Unicode"/>
              </a:rPr>
              <a:t>input,</a:t>
            </a:r>
            <a:r>
              <a:rPr sz="2000" spc="-3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processes</a:t>
            </a:r>
            <a:r>
              <a:rPr sz="2000" spc="-6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the 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information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and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45" dirty="0">
                <a:solidFill>
                  <a:srgbClr val="091540"/>
                </a:solidFill>
                <a:latin typeface="Lucida Sans Unicode"/>
                <a:cs typeface="Lucida Sans Unicode"/>
              </a:rPr>
              <a:t>dynamically</a:t>
            </a: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displays</a:t>
            </a:r>
            <a:r>
              <a:rPr sz="2000" spc="-4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the 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information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40" dirty="0">
                <a:solidFill>
                  <a:srgbClr val="091540"/>
                </a:solidFill>
                <a:latin typeface="Lucida Sans Unicode"/>
                <a:cs typeface="Lucida Sans Unicode"/>
              </a:rPr>
              <a:t>in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 the</a:t>
            </a:r>
            <a:r>
              <a:rPr sz="2000" spc="-3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resume.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35699" y="1936781"/>
            <a:ext cx="5222875" cy="2441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635" dirty="0">
                <a:solidFill>
                  <a:srgbClr val="091540"/>
                </a:solidFill>
                <a:latin typeface="Calibri"/>
                <a:cs typeface="Calibri"/>
              </a:rPr>
              <a:t>WORKING</a:t>
            </a:r>
            <a:endParaRPr sz="4000">
              <a:latin typeface="Calibri"/>
              <a:cs typeface="Calibri"/>
            </a:endParaRPr>
          </a:p>
          <a:p>
            <a:pPr marL="418465" indent="-405765">
              <a:lnSpc>
                <a:spcPct val="100000"/>
              </a:lnSpc>
              <a:spcBef>
                <a:spcPts val="1850"/>
              </a:spcBef>
              <a:buAutoNum type="arabicPeriod"/>
              <a:tabLst>
                <a:tab pos="418465" algn="l"/>
              </a:tabLst>
            </a:pP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User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Input</a:t>
            </a:r>
            <a:endParaRPr sz="2000">
              <a:latin typeface="Lucida Sans Unicode"/>
              <a:cs typeface="Lucida Sans Unicode"/>
            </a:endParaRPr>
          </a:p>
          <a:p>
            <a:pPr marL="418465" indent="-4057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18465" algn="l"/>
              </a:tabLst>
            </a:pP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JavaScript</a:t>
            </a:r>
            <a:r>
              <a:rPr sz="2000" spc="-6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Processing</a:t>
            </a:r>
            <a:endParaRPr sz="2000">
              <a:latin typeface="Lucida Sans Unicode"/>
              <a:cs typeface="Lucida Sans Unicode"/>
            </a:endParaRPr>
          </a:p>
          <a:p>
            <a:pPr marL="418465" indent="-405765">
              <a:lnSpc>
                <a:spcPct val="100000"/>
              </a:lnSpc>
              <a:spcBef>
                <a:spcPts val="750"/>
              </a:spcBef>
              <a:buAutoNum type="arabicPeriod"/>
              <a:tabLst>
                <a:tab pos="418465" algn="l"/>
              </a:tabLst>
            </a:pP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Resume</a:t>
            </a:r>
            <a:r>
              <a:rPr sz="2000" spc="-10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Display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000" spc="-45" dirty="0">
                <a:solidFill>
                  <a:srgbClr val="091540"/>
                </a:solidFill>
                <a:latin typeface="Lucida Sans Unicode"/>
                <a:cs typeface="Lucida Sans Unicode"/>
              </a:rPr>
              <a:t>Everything</a:t>
            </a:r>
            <a:r>
              <a:rPr sz="2000" spc="-9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65" dirty="0">
                <a:solidFill>
                  <a:srgbClr val="091540"/>
                </a:solidFill>
                <a:latin typeface="Lucida Sans Unicode"/>
                <a:cs typeface="Lucida Sans Unicode"/>
              </a:rPr>
              <a:t>is</a:t>
            </a:r>
            <a:r>
              <a:rPr sz="2000" spc="-75" dirty="0">
                <a:solidFill>
                  <a:srgbClr val="091540"/>
                </a:solidFill>
                <a:latin typeface="Lucida Sans Unicode"/>
                <a:cs typeface="Lucida Sans Unicode"/>
              </a:rPr>
              <a:t> handled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5" dirty="0">
                <a:solidFill>
                  <a:srgbClr val="091540"/>
                </a:solidFill>
                <a:latin typeface="Lucida Sans Unicode"/>
                <a:cs typeface="Lucida Sans Unicode"/>
              </a:rPr>
              <a:t>through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35" dirty="0">
                <a:solidFill>
                  <a:srgbClr val="091540"/>
                </a:solidFill>
                <a:latin typeface="Lucida Sans Unicode"/>
                <a:cs typeface="Lucida Sans Unicode"/>
              </a:rPr>
              <a:t>one</a:t>
            </a:r>
            <a:r>
              <a:rPr sz="2000" spc="-7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webpage.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8" name="object 8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DA2A4C5-F30F-BFE0-FBA7-0B2286D2C3BF}"/>
              </a:ext>
            </a:extLst>
          </p:cNvPr>
          <p:cNvSpPr/>
          <p:nvPr/>
        </p:nvSpPr>
        <p:spPr>
          <a:xfrm>
            <a:off x="10342244" y="6343650"/>
            <a:ext cx="1754504" cy="41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0700" y="123888"/>
            <a:ext cx="10892155" cy="1555115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12700" marR="5080">
              <a:lnSpc>
                <a:spcPct val="79200"/>
              </a:lnSpc>
              <a:spcBef>
                <a:spcPts val="1495"/>
              </a:spcBef>
            </a:pPr>
            <a:r>
              <a:rPr spc="-660" dirty="0">
                <a:solidFill>
                  <a:srgbClr val="091540"/>
                </a:solidFill>
              </a:rPr>
              <a:t>THE</a:t>
            </a:r>
            <a:r>
              <a:rPr spc="-550" dirty="0">
                <a:solidFill>
                  <a:srgbClr val="091540"/>
                </a:solidFill>
              </a:rPr>
              <a:t> </a:t>
            </a:r>
            <a:r>
              <a:rPr spc="-600" dirty="0">
                <a:solidFill>
                  <a:srgbClr val="091540"/>
                </a:solidFill>
              </a:rPr>
              <a:t>INTERFACE</a:t>
            </a:r>
            <a:r>
              <a:rPr spc="-550" dirty="0">
                <a:solidFill>
                  <a:srgbClr val="091540"/>
                </a:solidFill>
              </a:rPr>
              <a:t> </a:t>
            </a:r>
            <a:r>
              <a:rPr spc="-520" dirty="0">
                <a:solidFill>
                  <a:srgbClr val="091540"/>
                </a:solidFill>
              </a:rPr>
              <a:t>KEEPS</a:t>
            </a:r>
            <a:r>
              <a:rPr spc="-550" dirty="0">
                <a:solidFill>
                  <a:srgbClr val="091540"/>
                </a:solidFill>
              </a:rPr>
              <a:t> </a:t>
            </a:r>
            <a:r>
              <a:rPr spc="-615" dirty="0">
                <a:solidFill>
                  <a:srgbClr val="091540"/>
                </a:solidFill>
              </a:rPr>
              <a:t>EVERY</a:t>
            </a:r>
            <a:r>
              <a:rPr spc="-550" dirty="0">
                <a:solidFill>
                  <a:srgbClr val="091540"/>
                </a:solidFill>
              </a:rPr>
              <a:t> </a:t>
            </a:r>
            <a:r>
              <a:rPr spc="-805" dirty="0">
                <a:solidFill>
                  <a:srgbClr val="091540"/>
                </a:solidFill>
              </a:rPr>
              <a:t>RESUME</a:t>
            </a:r>
            <a:r>
              <a:rPr spc="-550" dirty="0">
                <a:solidFill>
                  <a:srgbClr val="091540"/>
                </a:solidFill>
              </a:rPr>
              <a:t> </a:t>
            </a:r>
            <a:r>
              <a:rPr spc="-630" dirty="0">
                <a:solidFill>
                  <a:srgbClr val="091540"/>
                </a:solidFill>
              </a:rPr>
              <a:t>SECTION </a:t>
            </a:r>
            <a:r>
              <a:rPr spc="-645" dirty="0">
                <a:solidFill>
                  <a:srgbClr val="091540"/>
                </a:solidFill>
              </a:rPr>
              <a:t>IN</a:t>
            </a:r>
            <a:r>
              <a:rPr spc="-565" dirty="0">
                <a:solidFill>
                  <a:srgbClr val="091540"/>
                </a:solidFill>
              </a:rPr>
              <a:t> </a:t>
            </a:r>
            <a:r>
              <a:rPr spc="-910" dirty="0">
                <a:solidFill>
                  <a:srgbClr val="091540"/>
                </a:solidFill>
              </a:rPr>
              <a:t>ONE</a:t>
            </a:r>
            <a:r>
              <a:rPr spc="-560" dirty="0">
                <a:solidFill>
                  <a:srgbClr val="091540"/>
                </a:solidFill>
              </a:rPr>
              <a:t> </a:t>
            </a:r>
            <a:r>
              <a:rPr spc="-785" dirty="0">
                <a:solidFill>
                  <a:srgbClr val="091540"/>
                </a:solidFill>
              </a:rPr>
              <a:t>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4371974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4762499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153024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553074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943599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6334124"/>
            <a:ext cx="85725" cy="8572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50"/>
              </a:spcBef>
            </a:pPr>
            <a:r>
              <a:rPr spc="-420" dirty="0"/>
              <a:t>SINGLE</a:t>
            </a:r>
            <a:r>
              <a:rPr spc="-400" dirty="0"/>
              <a:t> </a:t>
            </a:r>
            <a:r>
              <a:rPr spc="-615" dirty="0"/>
              <a:t>WEBPAGE </a:t>
            </a:r>
            <a:r>
              <a:rPr spc="-625" dirty="0"/>
              <a:t>COMPONENTS</a:t>
            </a:r>
          </a:p>
          <a:p>
            <a:pPr marL="418465" marR="635000">
              <a:lnSpc>
                <a:spcPct val="128099"/>
              </a:lnSpc>
              <a:spcBef>
                <a:spcPts val="1250"/>
              </a:spcBef>
            </a:pPr>
            <a:r>
              <a:rPr sz="2000" b="0" spc="-65" dirty="0">
                <a:latin typeface="Lucida Sans Unicode"/>
                <a:cs typeface="Lucida Sans Unicode"/>
              </a:rPr>
              <a:t>Personal</a:t>
            </a:r>
            <a:r>
              <a:rPr sz="2000" b="0" spc="-40" dirty="0">
                <a:latin typeface="Lucida Sans Unicode"/>
                <a:cs typeface="Lucida Sans Unicode"/>
              </a:rPr>
              <a:t> </a:t>
            </a:r>
            <a:r>
              <a:rPr sz="2000" b="0" spc="-85" dirty="0">
                <a:latin typeface="Lucida Sans Unicode"/>
                <a:cs typeface="Lucida Sans Unicode"/>
              </a:rPr>
              <a:t>Details </a:t>
            </a:r>
            <a:r>
              <a:rPr sz="2000" b="0" spc="-10" dirty="0">
                <a:latin typeface="Lucida Sans Unicode"/>
                <a:cs typeface="Lucida Sans Unicode"/>
              </a:rPr>
              <a:t>Education</a:t>
            </a:r>
            <a:endParaRPr sz="2000">
              <a:latin typeface="Lucida Sans Unicode"/>
              <a:cs typeface="Lucida Sans Unicode"/>
            </a:endParaRPr>
          </a:p>
          <a:p>
            <a:pPr marL="418465">
              <a:lnSpc>
                <a:spcPct val="100000"/>
              </a:lnSpc>
              <a:spcBef>
                <a:spcPts val="675"/>
              </a:spcBef>
            </a:pPr>
            <a:r>
              <a:rPr sz="2000" b="0" spc="-10" dirty="0">
                <a:latin typeface="Lucida Sans Unicode"/>
                <a:cs typeface="Lucida Sans Unicode"/>
              </a:rPr>
              <a:t>Skills</a:t>
            </a:r>
            <a:endParaRPr sz="2000">
              <a:latin typeface="Lucida Sans Unicode"/>
              <a:cs typeface="Lucida Sans Unicode"/>
            </a:endParaRPr>
          </a:p>
          <a:p>
            <a:pPr marL="418465" marR="668020">
              <a:lnSpc>
                <a:spcPct val="128099"/>
              </a:lnSpc>
              <a:spcBef>
                <a:spcPts val="75"/>
              </a:spcBef>
            </a:pPr>
            <a:r>
              <a:rPr sz="2000" b="0" spc="-10" dirty="0">
                <a:latin typeface="Lucida Sans Unicode"/>
                <a:cs typeface="Lucida Sans Unicode"/>
              </a:rPr>
              <a:t>Projects Experience </a:t>
            </a:r>
            <a:r>
              <a:rPr sz="2000" b="0" spc="-55" dirty="0">
                <a:latin typeface="Lucida Sans Unicode"/>
                <a:cs typeface="Lucida Sans Unicode"/>
              </a:rPr>
              <a:t>Resume</a:t>
            </a:r>
            <a:r>
              <a:rPr sz="2000" b="0" spc="-105" dirty="0">
                <a:latin typeface="Lucida Sans Unicode"/>
                <a:cs typeface="Lucida Sans Unicode"/>
              </a:rPr>
              <a:t> </a:t>
            </a:r>
            <a:r>
              <a:rPr sz="2000" b="0" spc="-95" dirty="0">
                <a:latin typeface="Lucida Sans Unicode"/>
                <a:cs typeface="Lucida Sans Unicode"/>
              </a:rPr>
              <a:t>Output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95999" y="2933699"/>
            <a:ext cx="6096000" cy="3924300"/>
            <a:chOff x="6095999" y="2933699"/>
            <a:chExt cx="6096000" cy="3924300"/>
          </a:xfrm>
        </p:grpSpPr>
        <p:sp>
          <p:nvSpPr>
            <p:cNvPr id="11" name="object 11"/>
            <p:cNvSpPr/>
            <p:nvPr/>
          </p:nvSpPr>
          <p:spPr>
            <a:xfrm>
              <a:off x="6095999" y="2933699"/>
              <a:ext cx="6096000" cy="3924300"/>
            </a:xfrm>
            <a:custGeom>
              <a:avLst/>
              <a:gdLst/>
              <a:ahLst/>
              <a:cxnLst/>
              <a:rect l="l" t="t" r="r" b="b"/>
              <a:pathLst>
                <a:path w="6096000" h="3924300">
                  <a:moveTo>
                    <a:pt x="6095999" y="3924299"/>
                  </a:moveTo>
                  <a:lnTo>
                    <a:pt x="0" y="3924299"/>
                  </a:lnTo>
                  <a:lnTo>
                    <a:pt x="0" y="0"/>
                  </a:lnTo>
                  <a:lnTo>
                    <a:pt x="6095999" y="0"/>
                  </a:lnTo>
                  <a:lnTo>
                    <a:pt x="6095999" y="3924299"/>
                  </a:lnTo>
                  <a:close/>
                </a:path>
              </a:pathLst>
            </a:custGeom>
            <a:solidFill>
              <a:srgbClr val="F1F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5099" y="4010024"/>
              <a:ext cx="85725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5099" y="4410074"/>
              <a:ext cx="85725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5099" y="4800599"/>
              <a:ext cx="85725" cy="85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5099" y="5191124"/>
              <a:ext cx="85725" cy="85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5099" y="5591174"/>
              <a:ext cx="85725" cy="85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5099" y="5981699"/>
              <a:ext cx="85725" cy="8572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438850" y="3032156"/>
            <a:ext cx="4505960" cy="347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90" dirty="0">
                <a:solidFill>
                  <a:srgbClr val="091540"/>
                </a:solidFill>
                <a:latin typeface="Calibri"/>
                <a:cs typeface="Calibri"/>
              </a:rPr>
              <a:t>ADVANTAGES</a:t>
            </a:r>
            <a:endParaRPr sz="4000">
              <a:latin typeface="Calibri"/>
              <a:cs typeface="Calibri"/>
            </a:endParaRPr>
          </a:p>
          <a:p>
            <a:pPr marL="418465" marR="2048510">
              <a:lnSpc>
                <a:spcPct val="129700"/>
              </a:lnSpc>
              <a:spcBef>
                <a:spcPts val="1135"/>
              </a:spcBef>
            </a:pPr>
            <a:r>
              <a:rPr sz="2000" dirty="0">
                <a:solidFill>
                  <a:srgbClr val="091540"/>
                </a:solidFill>
                <a:latin typeface="Lucida Sans Unicode"/>
                <a:cs typeface="Lucida Sans Unicode"/>
              </a:rPr>
              <a:t>Easy</a:t>
            </a:r>
            <a:r>
              <a:rPr sz="2000" spc="-10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30" dirty="0">
                <a:solidFill>
                  <a:srgbClr val="091540"/>
                </a:solidFill>
                <a:latin typeface="Lucida Sans Unicode"/>
                <a:cs typeface="Lucida Sans Unicode"/>
              </a:rPr>
              <a:t>to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91540"/>
                </a:solidFill>
                <a:latin typeface="Lucida Sans Unicode"/>
                <a:cs typeface="Lucida Sans Unicode"/>
              </a:rPr>
              <a:t>use </a:t>
            </a:r>
            <a:r>
              <a:rPr sz="2000" spc="-80" dirty="0">
                <a:solidFill>
                  <a:srgbClr val="091540"/>
                </a:solidFill>
                <a:latin typeface="Lucida Sans Unicode"/>
                <a:cs typeface="Lucida Sans Unicode"/>
              </a:rPr>
              <a:t>Beginner-</a:t>
            </a:r>
            <a:r>
              <a:rPr sz="2000" spc="-60" dirty="0">
                <a:solidFill>
                  <a:srgbClr val="091540"/>
                </a:solidFill>
                <a:latin typeface="Lucida Sans Unicode"/>
                <a:cs typeface="Lucida Sans Unicode"/>
              </a:rPr>
              <a:t>friendly 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Saves</a:t>
            </a:r>
            <a:r>
              <a:rPr sz="2000" spc="-12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time</a:t>
            </a:r>
            <a:endParaRPr sz="2000">
              <a:latin typeface="Lucida Sans Unicode"/>
              <a:cs typeface="Lucida Sans Unicode"/>
            </a:endParaRPr>
          </a:p>
          <a:p>
            <a:pPr marL="418465" marR="2327275">
              <a:lnSpc>
                <a:spcPts val="3150"/>
              </a:lnSpc>
              <a:spcBef>
                <a:spcPts val="155"/>
              </a:spcBef>
            </a:pPr>
            <a:r>
              <a:rPr sz="2000" spc="-40" dirty="0">
                <a:solidFill>
                  <a:srgbClr val="091540"/>
                </a:solidFill>
                <a:latin typeface="Lucida Sans Unicode"/>
                <a:cs typeface="Lucida Sans Unicode"/>
              </a:rPr>
              <a:t>Clean</a:t>
            </a:r>
            <a:r>
              <a:rPr sz="2000" spc="-114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091540"/>
                </a:solidFill>
                <a:latin typeface="Lucida Sans Unicode"/>
                <a:cs typeface="Lucida Sans Unicode"/>
              </a:rPr>
              <a:t>interface </a:t>
            </a:r>
            <a:r>
              <a:rPr sz="2000" dirty="0">
                <a:solidFill>
                  <a:srgbClr val="091540"/>
                </a:solidFill>
                <a:latin typeface="Lucida Sans Unicode"/>
                <a:cs typeface="Lucida Sans Unicode"/>
              </a:rPr>
              <a:t>Easy</a:t>
            </a:r>
            <a:r>
              <a:rPr sz="2000" spc="-105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30" dirty="0">
                <a:solidFill>
                  <a:srgbClr val="091540"/>
                </a:solidFill>
                <a:latin typeface="Lucida Sans Unicode"/>
                <a:cs typeface="Lucida Sans Unicode"/>
              </a:rPr>
              <a:t>to</a:t>
            </a:r>
            <a:r>
              <a:rPr sz="2000" spc="-10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edit</a:t>
            </a:r>
            <a:endParaRPr sz="2000">
              <a:latin typeface="Lucida Sans Unicode"/>
              <a:cs typeface="Lucida Sans Unicode"/>
            </a:endParaRPr>
          </a:p>
          <a:p>
            <a:pPr marL="418465" marR="5080">
              <a:lnSpc>
                <a:spcPct val="109400"/>
              </a:lnSpc>
              <a:spcBef>
                <a:spcPts val="220"/>
              </a:spcBef>
            </a:pPr>
            <a:r>
              <a:rPr sz="2000" spc="-50" dirty="0">
                <a:solidFill>
                  <a:srgbClr val="091540"/>
                </a:solidFill>
                <a:latin typeface="Lucida Sans Unicode"/>
                <a:cs typeface="Lucida Sans Unicode"/>
              </a:rPr>
              <a:t>No</a:t>
            </a:r>
            <a:r>
              <a:rPr sz="2000" spc="-11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91540"/>
                </a:solidFill>
                <a:latin typeface="Lucida Sans Unicode"/>
                <a:cs typeface="Lucida Sans Unicode"/>
              </a:rPr>
              <a:t>need</a:t>
            </a:r>
            <a:r>
              <a:rPr sz="2000" spc="-120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30" dirty="0">
                <a:solidFill>
                  <a:srgbClr val="091540"/>
                </a:solidFill>
                <a:latin typeface="Lucida Sans Unicode"/>
                <a:cs typeface="Lucida Sans Unicode"/>
              </a:rPr>
              <a:t>to</a:t>
            </a:r>
            <a:r>
              <a:rPr sz="2000" spc="-114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35" dirty="0">
                <a:solidFill>
                  <a:srgbClr val="091540"/>
                </a:solidFill>
                <a:latin typeface="Lucida Sans Unicode"/>
                <a:cs typeface="Lucida Sans Unicode"/>
              </a:rPr>
              <a:t>move</a:t>
            </a:r>
            <a:r>
              <a:rPr sz="2000" spc="-114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30" dirty="0">
                <a:solidFill>
                  <a:srgbClr val="091540"/>
                </a:solidFill>
                <a:latin typeface="Lucida Sans Unicode"/>
                <a:cs typeface="Lucida Sans Unicode"/>
              </a:rPr>
              <a:t>between</a:t>
            </a:r>
            <a:r>
              <a:rPr sz="2000" spc="-114" dirty="0">
                <a:solidFill>
                  <a:srgbClr val="091540"/>
                </a:solidFill>
                <a:latin typeface="Lucida Sans Unicode"/>
                <a:cs typeface="Lucida Sans Unicode"/>
              </a:rPr>
              <a:t> </a:t>
            </a:r>
            <a:r>
              <a:rPr sz="2000" spc="-95" dirty="0">
                <a:solidFill>
                  <a:srgbClr val="091540"/>
                </a:solidFill>
                <a:latin typeface="Lucida Sans Unicode"/>
                <a:cs typeface="Lucida Sans Unicode"/>
              </a:rPr>
              <a:t>multiple </a:t>
            </a:r>
            <a:r>
              <a:rPr sz="2000" spc="-10" dirty="0">
                <a:solidFill>
                  <a:srgbClr val="091540"/>
                </a:solidFill>
                <a:latin typeface="Lucida Sans Unicode"/>
                <a:cs typeface="Lucida Sans Unicode"/>
              </a:rPr>
              <a:t>webpages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9" name="object 19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AB8863D-4781-86EA-E1C5-9A4ABC54154D}"/>
              </a:ext>
            </a:extLst>
          </p:cNvPr>
          <p:cNvSpPr/>
          <p:nvPr/>
        </p:nvSpPr>
        <p:spPr>
          <a:xfrm>
            <a:off x="10280521" y="6309741"/>
            <a:ext cx="1754504" cy="419100"/>
          </a:xfrm>
          <a:prstGeom prst="rect">
            <a:avLst/>
          </a:prstGeom>
          <a:solidFill>
            <a:srgbClr val="F1F4FD"/>
          </a:solidFill>
          <a:ln>
            <a:solidFill>
              <a:srgbClr val="F1F4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C3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12700" marR="5080">
              <a:lnSpc>
                <a:spcPct val="79200"/>
              </a:lnSpc>
              <a:spcBef>
                <a:spcPts val="1495"/>
              </a:spcBef>
            </a:pPr>
            <a:r>
              <a:rPr spc="-815" dirty="0"/>
              <a:t>A</a:t>
            </a:r>
            <a:r>
              <a:rPr spc="-550" dirty="0"/>
              <a:t> </a:t>
            </a:r>
            <a:r>
              <a:rPr spc="-650" dirty="0"/>
              <a:t>SIMPLE</a:t>
            </a:r>
            <a:r>
              <a:rPr spc="-550" dirty="0"/>
              <a:t> </a:t>
            </a:r>
            <a:r>
              <a:rPr spc="-885" dirty="0"/>
              <a:t>FOUNDATION </a:t>
            </a:r>
            <a:r>
              <a:rPr spc="-800" dirty="0"/>
              <a:t>WITH</a:t>
            </a:r>
            <a:r>
              <a:rPr spc="-560" dirty="0"/>
              <a:t> </a:t>
            </a:r>
            <a:r>
              <a:rPr spc="-1180" dirty="0"/>
              <a:t>ROOM</a:t>
            </a:r>
            <a:r>
              <a:rPr spc="-555" dirty="0"/>
              <a:t> </a:t>
            </a:r>
            <a:r>
              <a:rPr spc="-875" dirty="0"/>
              <a:t>TO</a:t>
            </a:r>
            <a:r>
              <a:rPr spc="-560" dirty="0"/>
              <a:t> </a:t>
            </a:r>
            <a:r>
              <a:rPr spc="-1105" dirty="0"/>
              <a:t>GROW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4391024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4781549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181599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572124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962649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6362699"/>
            <a:ext cx="85725" cy="857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20700" y="1631981"/>
            <a:ext cx="5427980" cy="4927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30" dirty="0">
                <a:solidFill>
                  <a:srgbClr val="FFFFFF"/>
                </a:solidFill>
                <a:latin typeface="Calibri"/>
                <a:cs typeface="Calibri"/>
              </a:rPr>
              <a:t>CONCLUSION</a:t>
            </a:r>
            <a:endParaRPr sz="4000">
              <a:latin typeface="Calibri"/>
              <a:cs typeface="Calibri"/>
            </a:endParaRPr>
          </a:p>
          <a:p>
            <a:pPr marL="12700" marR="5080">
              <a:lnSpc>
                <a:spcPct val="109400"/>
              </a:lnSpc>
              <a:spcBef>
                <a:spcPts val="1625"/>
              </a:spcBef>
            </a:pPr>
            <a:r>
              <a:rPr sz="20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Resume</a:t>
            </a:r>
            <a:r>
              <a:rPr sz="2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Builder</a:t>
            </a:r>
            <a:r>
              <a:rPr sz="20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sz="2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single-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page</a:t>
            </a:r>
            <a:r>
              <a:rPr sz="2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frontend </a:t>
            </a:r>
            <a:r>
              <a:rPr sz="2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application</a:t>
            </a:r>
            <a:r>
              <a:rPr sz="20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sz="20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makes</a:t>
            </a:r>
            <a:r>
              <a:rPr sz="2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resume</a:t>
            </a:r>
            <a:r>
              <a:rPr sz="20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creation</a:t>
            </a:r>
            <a:r>
              <a:rPr sz="20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simple </a:t>
            </a:r>
            <a:r>
              <a:rPr sz="2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20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organized.</a:t>
            </a:r>
            <a:endParaRPr sz="2000">
              <a:latin typeface="Lucida Sans Unicode"/>
              <a:cs typeface="Lucida Sans Unicode"/>
            </a:endParaRPr>
          </a:p>
          <a:p>
            <a:pPr marL="418465" marR="155575" indent="-406400">
              <a:lnSpc>
                <a:spcPts val="4430"/>
              </a:lnSpc>
              <a:spcBef>
                <a:spcPts val="405"/>
              </a:spcBef>
            </a:pPr>
            <a:r>
              <a:rPr sz="20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Through</a:t>
            </a:r>
            <a:r>
              <a:rPr sz="20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this</a:t>
            </a:r>
            <a:r>
              <a:rPr sz="20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project,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we</a:t>
            </a:r>
            <a:r>
              <a:rPr sz="2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learned </a:t>
            </a:r>
            <a:r>
              <a:rPr sz="2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applied: </a:t>
            </a:r>
            <a:r>
              <a:rPr sz="20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HTML</a:t>
            </a:r>
            <a:endParaRPr sz="2000">
              <a:latin typeface="Lucida Sans Unicode"/>
              <a:cs typeface="Lucida Sans Unicode"/>
            </a:endParaRPr>
          </a:p>
          <a:p>
            <a:pPr marL="418465">
              <a:lnSpc>
                <a:spcPct val="100000"/>
              </a:lnSpc>
              <a:spcBef>
                <a:spcPts val="185"/>
              </a:spcBef>
            </a:pPr>
            <a:r>
              <a:rPr sz="20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CSS</a:t>
            </a:r>
            <a:endParaRPr sz="2000">
              <a:latin typeface="Lucida Sans Unicode"/>
              <a:cs typeface="Lucida Sans Unicode"/>
            </a:endParaRPr>
          </a:p>
          <a:p>
            <a:pPr marL="418465">
              <a:lnSpc>
                <a:spcPct val="100000"/>
              </a:lnSpc>
              <a:spcBef>
                <a:spcPts val="750"/>
              </a:spcBef>
            </a:pP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JavaScript</a:t>
            </a:r>
            <a:endParaRPr sz="2000">
              <a:latin typeface="Lucida Sans Unicode"/>
              <a:cs typeface="Lucida Sans Unicode"/>
            </a:endParaRPr>
          </a:p>
          <a:p>
            <a:pPr marL="418465" marR="2868295">
              <a:lnSpc>
                <a:spcPct val="128099"/>
              </a:lnSpc>
            </a:pPr>
            <a:r>
              <a:rPr sz="20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DOM</a:t>
            </a:r>
            <a:r>
              <a:rPr sz="20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Manipulation </a:t>
            </a:r>
            <a:r>
              <a:rPr sz="2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Form</a:t>
            </a:r>
            <a:r>
              <a:rPr sz="20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Handling</a:t>
            </a:r>
            <a:endParaRPr sz="2000">
              <a:latin typeface="Lucida Sans Unicode"/>
              <a:cs typeface="Lucida Sans Unicode"/>
            </a:endParaRPr>
          </a:p>
          <a:p>
            <a:pPr marL="418465">
              <a:lnSpc>
                <a:spcPct val="100000"/>
              </a:lnSpc>
              <a:spcBef>
                <a:spcPts val="750"/>
              </a:spcBef>
            </a:pP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Webpage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Designing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6099" y="2009774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6099" y="2409824"/>
            <a:ext cx="85725" cy="857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6099" y="2800349"/>
            <a:ext cx="85725" cy="857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6099" y="3190874"/>
            <a:ext cx="85725" cy="857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6099" y="3581399"/>
            <a:ext cx="85725" cy="857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6099" y="3981449"/>
            <a:ext cx="85725" cy="85724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0" dirty="0"/>
              <a:t>FUTURE</a:t>
            </a:r>
            <a:r>
              <a:rPr spc="-395" dirty="0"/>
              <a:t> </a:t>
            </a:r>
            <a:r>
              <a:rPr spc="-455" dirty="0"/>
              <a:t>SCOPE</a:t>
            </a:r>
          </a:p>
          <a:p>
            <a:pPr marL="418465" marR="408940">
              <a:lnSpc>
                <a:spcPct val="131300"/>
              </a:lnSpc>
              <a:spcBef>
                <a:spcPts val="1095"/>
              </a:spcBef>
            </a:pPr>
            <a:r>
              <a:rPr sz="2000" b="0" spc="-90" dirty="0">
                <a:latin typeface="Lucida Sans Unicode"/>
                <a:cs typeface="Lucida Sans Unicode"/>
              </a:rPr>
              <a:t>Download</a:t>
            </a:r>
            <a:r>
              <a:rPr sz="2000" b="0" spc="-60" dirty="0">
                <a:latin typeface="Lucida Sans Unicode"/>
                <a:cs typeface="Lucida Sans Unicode"/>
              </a:rPr>
              <a:t> </a:t>
            </a:r>
            <a:r>
              <a:rPr sz="2000" b="0" spc="-55" dirty="0">
                <a:latin typeface="Lucida Sans Unicode"/>
                <a:cs typeface="Lucida Sans Unicode"/>
              </a:rPr>
              <a:t>Resume </a:t>
            </a:r>
            <a:r>
              <a:rPr sz="2000" b="0" dirty="0">
                <a:latin typeface="Lucida Sans Unicode"/>
                <a:cs typeface="Lucida Sans Unicode"/>
              </a:rPr>
              <a:t>as</a:t>
            </a:r>
            <a:r>
              <a:rPr sz="2000" b="0" spc="-60" dirty="0">
                <a:latin typeface="Lucida Sans Unicode"/>
                <a:cs typeface="Lucida Sans Unicode"/>
              </a:rPr>
              <a:t> </a:t>
            </a:r>
            <a:r>
              <a:rPr sz="2000" b="0" spc="-25" dirty="0">
                <a:latin typeface="Lucida Sans Unicode"/>
                <a:cs typeface="Lucida Sans Unicode"/>
              </a:rPr>
              <a:t>PDF </a:t>
            </a:r>
            <a:r>
              <a:rPr sz="2000" b="0" spc="-100" dirty="0">
                <a:latin typeface="Lucida Sans Unicode"/>
                <a:cs typeface="Lucida Sans Unicode"/>
              </a:rPr>
              <a:t>Multiple</a:t>
            </a:r>
            <a:r>
              <a:rPr sz="2000" b="0" spc="-40" dirty="0">
                <a:latin typeface="Lucida Sans Unicode"/>
                <a:cs typeface="Lucida Sans Unicode"/>
              </a:rPr>
              <a:t> </a:t>
            </a:r>
            <a:r>
              <a:rPr sz="2000" b="0" spc="-85" dirty="0">
                <a:latin typeface="Lucida Sans Unicode"/>
                <a:cs typeface="Lucida Sans Unicode"/>
              </a:rPr>
              <a:t>resume</a:t>
            </a:r>
            <a:r>
              <a:rPr sz="2000" b="0" spc="-40" dirty="0">
                <a:latin typeface="Lucida Sans Unicode"/>
                <a:cs typeface="Lucida Sans Unicode"/>
              </a:rPr>
              <a:t> </a:t>
            </a:r>
            <a:r>
              <a:rPr sz="2000" b="0" spc="-60" dirty="0">
                <a:latin typeface="Lucida Sans Unicode"/>
                <a:cs typeface="Lucida Sans Unicode"/>
              </a:rPr>
              <a:t>templates</a:t>
            </a:r>
            <a:endParaRPr sz="2000">
              <a:latin typeface="Lucida Sans Unicode"/>
              <a:cs typeface="Lucida Sans Unicode"/>
            </a:endParaRPr>
          </a:p>
          <a:p>
            <a:pPr marL="418465" marR="5080">
              <a:lnSpc>
                <a:spcPct val="128099"/>
              </a:lnSpc>
              <a:spcBef>
                <a:spcPts val="5"/>
              </a:spcBef>
            </a:pPr>
            <a:r>
              <a:rPr sz="2000" b="0" spc="-120" dirty="0">
                <a:latin typeface="Lucida Sans Unicode"/>
                <a:cs typeface="Lucida Sans Unicode"/>
              </a:rPr>
              <a:t>AI-</a:t>
            </a:r>
            <a:r>
              <a:rPr sz="2000" b="0" spc="-25" dirty="0">
                <a:latin typeface="Lucida Sans Unicode"/>
                <a:cs typeface="Lucida Sans Unicode"/>
              </a:rPr>
              <a:t>based</a:t>
            </a:r>
            <a:r>
              <a:rPr sz="2000" b="0" spc="-80" dirty="0">
                <a:latin typeface="Lucida Sans Unicode"/>
                <a:cs typeface="Lucida Sans Unicode"/>
              </a:rPr>
              <a:t> </a:t>
            </a:r>
            <a:r>
              <a:rPr sz="2000" b="0" spc="-85" dirty="0">
                <a:latin typeface="Lucida Sans Unicode"/>
                <a:cs typeface="Lucida Sans Unicode"/>
              </a:rPr>
              <a:t>resume</a:t>
            </a:r>
            <a:r>
              <a:rPr sz="2000" b="0" spc="-75" dirty="0">
                <a:latin typeface="Lucida Sans Unicode"/>
                <a:cs typeface="Lucida Sans Unicode"/>
              </a:rPr>
              <a:t> suggestions </a:t>
            </a:r>
            <a:r>
              <a:rPr sz="2000" b="0" spc="-55" dirty="0">
                <a:latin typeface="Lucida Sans Unicode"/>
                <a:cs typeface="Lucida Sans Unicode"/>
              </a:rPr>
              <a:t>Resume</a:t>
            </a:r>
            <a:r>
              <a:rPr sz="2000" b="0" spc="-105" dirty="0">
                <a:latin typeface="Lucida Sans Unicode"/>
                <a:cs typeface="Lucida Sans Unicode"/>
              </a:rPr>
              <a:t> </a:t>
            </a:r>
            <a:r>
              <a:rPr sz="2000" b="0" spc="-25" dirty="0">
                <a:latin typeface="Lucida Sans Unicode"/>
                <a:cs typeface="Lucida Sans Unicode"/>
              </a:rPr>
              <a:t>data</a:t>
            </a:r>
            <a:r>
              <a:rPr sz="2000" b="0" spc="-120" dirty="0">
                <a:latin typeface="Lucida Sans Unicode"/>
                <a:cs typeface="Lucida Sans Unicode"/>
              </a:rPr>
              <a:t> </a:t>
            </a:r>
            <a:r>
              <a:rPr sz="2000" b="0" spc="-10" dirty="0">
                <a:latin typeface="Lucida Sans Unicode"/>
                <a:cs typeface="Lucida Sans Unicode"/>
              </a:rPr>
              <a:t>storage</a:t>
            </a:r>
            <a:endParaRPr sz="2000">
              <a:latin typeface="Lucida Sans Unicode"/>
              <a:cs typeface="Lucida Sans Unicode"/>
            </a:endParaRPr>
          </a:p>
          <a:p>
            <a:pPr marL="418465" marR="962025">
              <a:lnSpc>
                <a:spcPts val="3150"/>
              </a:lnSpc>
              <a:spcBef>
                <a:spcPts val="155"/>
              </a:spcBef>
            </a:pPr>
            <a:r>
              <a:rPr sz="2000" b="0" spc="-45" dirty="0">
                <a:latin typeface="Lucida Sans Unicode"/>
                <a:cs typeface="Lucida Sans Unicode"/>
              </a:rPr>
              <a:t>ATS</a:t>
            </a:r>
            <a:r>
              <a:rPr sz="2000" b="0" spc="-105" dirty="0">
                <a:latin typeface="Lucida Sans Unicode"/>
                <a:cs typeface="Lucida Sans Unicode"/>
              </a:rPr>
              <a:t> </a:t>
            </a:r>
            <a:r>
              <a:rPr sz="2000" b="0" spc="-55" dirty="0">
                <a:latin typeface="Lucida Sans Unicode"/>
                <a:cs typeface="Lucida Sans Unicode"/>
              </a:rPr>
              <a:t>Resume</a:t>
            </a:r>
            <a:r>
              <a:rPr sz="2000" b="0" spc="-105" dirty="0">
                <a:latin typeface="Lucida Sans Unicode"/>
                <a:cs typeface="Lucida Sans Unicode"/>
              </a:rPr>
              <a:t> </a:t>
            </a:r>
            <a:r>
              <a:rPr sz="2000" b="0" spc="-35" dirty="0">
                <a:latin typeface="Lucida Sans Unicode"/>
                <a:cs typeface="Lucida Sans Unicode"/>
              </a:rPr>
              <a:t>Checker </a:t>
            </a:r>
            <a:r>
              <a:rPr sz="2000" b="0" spc="-90" dirty="0">
                <a:latin typeface="Lucida Sans Unicode"/>
                <a:cs typeface="Lucida Sans Unicode"/>
              </a:rPr>
              <a:t>Dark/Light</a:t>
            </a:r>
            <a:r>
              <a:rPr sz="2000" b="0" spc="-10" dirty="0">
                <a:latin typeface="Lucida Sans Unicode"/>
                <a:cs typeface="Lucida Sans Unicode"/>
              </a:rPr>
              <a:t> </a:t>
            </a:r>
            <a:r>
              <a:rPr sz="2000" b="0" spc="-20" dirty="0">
                <a:latin typeface="Lucida Sans Unicode"/>
                <a:cs typeface="Lucida Sans Unicode"/>
              </a:rPr>
              <a:t>Mode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495"/>
              </a:spcBef>
            </a:pPr>
            <a:r>
              <a:rPr spc="-535" dirty="0">
                <a:solidFill>
                  <a:srgbClr val="FFE73C"/>
                </a:solidFill>
              </a:rPr>
              <a:t>THANK</a:t>
            </a:r>
            <a:r>
              <a:rPr spc="-405" dirty="0">
                <a:solidFill>
                  <a:srgbClr val="FFE73C"/>
                </a:solidFill>
              </a:rPr>
              <a:t> </a:t>
            </a:r>
            <a:r>
              <a:rPr spc="-690" dirty="0">
                <a:solidFill>
                  <a:srgbClr val="FFE73C"/>
                </a:solidFill>
              </a:rPr>
              <a:t>YOU</a:t>
            </a: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sz="2000" b="0" spc="-50" dirty="0">
                <a:latin typeface="Lucida Sans Unicode"/>
                <a:cs typeface="Lucida Sans Unicode"/>
              </a:rPr>
              <a:t>“Thank</a:t>
            </a:r>
            <a:r>
              <a:rPr sz="2000" b="0" spc="-80" dirty="0">
                <a:latin typeface="Lucida Sans Unicode"/>
                <a:cs typeface="Lucida Sans Unicode"/>
              </a:rPr>
              <a:t> </a:t>
            </a:r>
            <a:r>
              <a:rPr sz="2000" b="0" spc="-160" dirty="0">
                <a:latin typeface="Lucida Sans Unicode"/>
                <a:cs typeface="Lucida Sans Unicode"/>
              </a:rPr>
              <a:t>You</a:t>
            </a:r>
            <a:r>
              <a:rPr sz="2000" b="0" spc="-20" dirty="0">
                <a:latin typeface="Lucida Sans Unicode"/>
                <a:cs typeface="Lucida Sans Unicode"/>
              </a:rPr>
              <a:t> </a:t>
            </a:r>
            <a:r>
              <a:rPr sz="2000" b="0" spc="-65" dirty="0">
                <a:latin typeface="Lucida Sans Unicode"/>
                <a:cs typeface="Lucida Sans Unicode"/>
              </a:rPr>
              <a:t>for</a:t>
            </a:r>
            <a:r>
              <a:rPr sz="2000" b="0" spc="-50" dirty="0">
                <a:latin typeface="Lucida Sans Unicode"/>
                <a:cs typeface="Lucida Sans Unicode"/>
              </a:rPr>
              <a:t> </a:t>
            </a:r>
            <a:r>
              <a:rPr sz="2000" b="0" spc="-10" dirty="0">
                <a:latin typeface="Lucida Sans Unicode"/>
                <a:cs typeface="Lucida Sans Unicode"/>
              </a:rPr>
              <a:t>Listening”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8" name="object 18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7021598-CBBE-E979-E532-CF304B47EC9E}"/>
              </a:ext>
            </a:extLst>
          </p:cNvPr>
          <p:cNvSpPr/>
          <p:nvPr/>
        </p:nvSpPr>
        <p:spPr>
          <a:xfrm>
            <a:off x="10320908" y="6276975"/>
            <a:ext cx="1754504" cy="419100"/>
          </a:xfrm>
          <a:prstGeom prst="rect">
            <a:avLst/>
          </a:prstGeom>
          <a:solidFill>
            <a:srgbClr val="1C3BE3"/>
          </a:solidFill>
          <a:ln>
            <a:solidFill>
              <a:srgbClr val="1C3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352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Lucida Sans Unicode</vt:lpstr>
      <vt:lpstr>Times New Roman</vt:lpstr>
      <vt:lpstr>Office Theme</vt:lpstr>
      <vt:lpstr>RESUME BUILDER</vt:lpstr>
      <vt:lpstr>RESUME CREATION IS DIFFICULT FOR BEGINNERS</vt:lpstr>
      <vt:lpstr>ONE PAGE BRINGS THE WHOLE RESUME TOGETHER</vt:lpstr>
      <vt:lpstr>HTML, CSS AND JAVASCRIPT POWER THE EXPERIENCE</vt:lpstr>
      <vt:lpstr>THE INTERFACE KEEPS EVERY RESUME SECTION IN ONE VIEW</vt:lpstr>
      <vt:lpstr>A SIMPLE FOUNDATION WITH ROOM TO GROW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Himani kumari</cp:lastModifiedBy>
  <cp:revision>1</cp:revision>
  <dcterms:created xsi:type="dcterms:W3CDTF">2026-10-08T04:39:20Z</dcterms:created>
  <dcterms:modified xsi:type="dcterms:W3CDTF">2026-10-08T05:47:08Z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2026-10-07T00:00:00Z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2026-10-08T00:00:00Z</vt:filetime>
  </property>
  <property fmtid="{D5CDD505-2E9C-101B-9397-08002B2CF9AE}" pid="5" name="Producer">
    <vt:lpwstr>pdf-lib (https://github.com/Hopding/pdf-lib)</vt:lpwstr>
  </property>
</Properties>
</file>